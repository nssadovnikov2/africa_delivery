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5214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Launch on 15 October within $5k a month: one simple core, partner rails, data at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5214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C9D6E3"/>
                </a:solidFill>
                <a:latin typeface="Calibri"/>
              </a:rPr>
              <a:t>Africa Delivery · Nairobi architecture review · 19 Aug 2026 · ADR-001 (co-authored with CTO)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E87A1E"/>
                </a:solidFill>
                <a:latin typeface="Calibri"/>
              </a:rPr>
              <a:t>WHAT WE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1261872" cy="502920"/>
          </a:xfrm>
          <a:prstGeom prst="roundRect">
            <a:avLst>
              <a:gd name="adj" fmla="val 1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Flutter app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(offline cache)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0784" y="1508760"/>
            <a:ext cx="1261872" cy="502920"/>
          </a:xfrm>
          <a:prstGeom prst="roundRect">
            <a:avLst>
              <a:gd name="adj" fmla="val 1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USSD / SMS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feature phones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1508760"/>
            <a:ext cx="1261872" cy="502920"/>
          </a:xfrm>
          <a:prstGeom prst="roundRect">
            <a:avLst>
              <a:gd name="adj" fmla="val 15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WhatsApp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sellers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48840" y="2057400"/>
            <a:ext cx="365760" cy="228600"/>
          </a:xfrm>
          <a:prstGeom prst="downArrow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33172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 modular monolith · 10 modules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managed K8s, GCP Johannesburg, 3 zones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managed Postgres + Redis · GitOps · OpenTelemetry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48840" y="3246120"/>
            <a:ext cx="365760" cy="228600"/>
          </a:xfrm>
          <a:prstGeom prst="downArrow">
            <a:avLst/>
          </a:prstGeom>
          <a:solidFill>
            <a:srgbClr val="5F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3520440"/>
            <a:ext cx="1920240" cy="54864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PARTNER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M-Pesa · Flutterwave · Paystack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520440"/>
            <a:ext cx="1920240" cy="54864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PARTNER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Sendbox · Sendy · SMS · WA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60520"/>
            <a:ext cx="3931920" cy="502920"/>
          </a:xfrm>
          <a:prstGeom prst="roundRect">
            <a:avLst>
              <a:gd name="adj" fmla="val 15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PII vaults in Lagos &amp; Nairobi — personal data never leaves the country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09160"/>
            <a:ext cx="393192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Scope: 9 of 29 features. </a:t>
            </a:r>
            <a:r>
              <a:rPr sz="1100" b="0">
                <a:solidFill>
                  <a:srgbClr val="1F262E"/>
                </a:solidFill>
                <a:latin typeface="Calibri"/>
              </a:rPr>
              <a:t>Live streams via TikTok/FB Live, refunds start instantly, no SMS blast to 410k bought numbers.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143000"/>
            <a:ext cx="393192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E87A1E"/>
                </a:solidFill>
                <a:latin typeface="Calibri"/>
              </a:rPr>
              <a:t>THE NUMBERS (5-YEAR TCO MODEL)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150876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188720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Chosen: monolith</a:t>
                      </a:r>
                    </a:p>
                  </a:txBody>
                  <a:tcPr marL="45720" marR="45720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CTO draft: 40 svc</a:t>
                      </a:r>
                    </a:p>
                  </a:txBody>
                  <a:tcPr marL="45720" marR="45720">
                    <a:solidFill>
                      <a:srgbClr val="0B2E4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Cloud + SaaS / month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$4,100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$19,700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Engineers in year 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15 Oct 2026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≈ Feb 2027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Cost per order, launch → M12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$3.32 → $1.25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$6.36 → $2.02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5-yr cost we control*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$7.1M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$16.5M</a:t>
                      </a:r>
                    </a:p>
                  </a:txBody>
                  <a:tcPr marL="45720" marR="45720">
                    <a:solidFill>
                      <a:srgbClr val="F2F5F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62E"/>
                          </a:solidFill>
                          <a:latin typeface="Calibri"/>
                        </a:rPr>
                        <a:t>Availability target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5A"/>
                          </a:solidFill>
                          <a:latin typeface="Calibri"/>
                        </a:rPr>
                        <a:t>99.95%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0" y="4297680"/>
            <a:ext cx="3931920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262E"/>
                </a:solidFill>
                <a:latin typeface="Calibri"/>
              </a:rPr>
              <a:t>Cost of being wrong: </a:t>
            </a:r>
            <a:r>
              <a:rPr sz="1050" b="0">
                <a:solidFill>
                  <a:srgbClr val="1F262E"/>
                </a:solidFill>
                <a:latin typeface="Calibri"/>
              </a:rPr>
              <a:t>build for 10M and get 50k users → ≈ $1.0M wasted. Build small and grow to 10M → ≈ $0.25M to extract services.</a:t>
            </a:r>
          </a:p>
          <a:p>
            <a:pPr algn="l"/>
            <a:r>
              <a:rPr sz="1050" b="0">
                <a:solidFill>
                  <a:srgbClr val="1F262E"/>
                </a:solidFill>
                <a:latin typeface="Calibri"/>
              </a:rPr>
              <a:t>*</a:t>
            </a:r>
            <a:r>
              <a:rPr sz="1050" b="0">
                <a:solidFill>
                  <a:srgbClr val="1F262E"/>
                </a:solidFill>
                <a:latin typeface="Calibri"/>
              </a:rPr>
              <a:t>cloud, licences, team; payment &amp; delivery fees are the same for both.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143000"/>
            <a:ext cx="310896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E87A1E"/>
                </a:solidFill>
                <a:latin typeface="Calibri"/>
              </a:rPr>
              <a:t>NOT NOW — AND WHEN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508760"/>
            <a:ext cx="3063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1508760"/>
            <a:ext cx="73152" cy="5669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27048"/>
            <a:ext cx="29260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99.99% active-active</a:t>
            </a:r>
          </a:p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when downtime costs &gt; $1.5k/min (forecast avg ≈ $650)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148839"/>
            <a:ext cx="3063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2148839"/>
            <a:ext cx="73152" cy="5669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167127"/>
            <a:ext cx="29260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Microservices, Kafka, Istio</a:t>
            </a:r>
          </a:p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when &gt; 2M users or &gt; 1,500 orders/min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788920"/>
            <a:ext cx="3063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2788920"/>
            <a:ext cx="73152" cy="5669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807208"/>
            <a:ext cx="29260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Own logistics engine</a:t>
            </a:r>
          </a:p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month-12 review with real volumes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429000"/>
            <a:ext cx="3063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3429000"/>
            <a:ext cx="73152" cy="5669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3447288"/>
            <a:ext cx="29260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Final data placement</a:t>
            </a:r>
          </a:p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legal opinion 5–19 Sep; switch ≤ 10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069080"/>
            <a:ext cx="3063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4069080"/>
            <a:ext cx="73152" cy="5669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087368"/>
            <a:ext cx="292608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262E"/>
                </a:solidFill>
                <a:latin typeface="Calibri"/>
              </a:rPr>
              <a:t>Blockchain loyalty</a:t>
            </a:r>
          </a:p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evaluate after month 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669280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E87A1E"/>
                </a:solidFill>
                <a:latin typeface="Calibri"/>
              </a:rPr>
              <a:t>DECISIONS WE NEED 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89320"/>
            <a:ext cx="2834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/>
              </a:rPr>
              <a:t>Investor: </a:t>
            </a:r>
            <a:r>
              <a:rPr sz="1200" b="0">
                <a:solidFill>
                  <a:srgbClr val="1F262E"/>
                </a:solidFill>
                <a:latin typeface="Calibri"/>
              </a:rPr>
              <a:t>99.95% at launch, 4th nine by trigger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989320"/>
            <a:ext cx="2834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/>
              </a:rPr>
              <a:t>CFO: </a:t>
            </a:r>
            <a:r>
              <a:rPr sz="1200" b="0">
                <a:solidFill>
                  <a:srgbClr val="1F262E"/>
                </a:solidFill>
                <a:latin typeface="Calibri"/>
              </a:rPr>
              <a:t>$4.1k/mo envelope, AWS DR as named alternative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5989320"/>
            <a:ext cx="2834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/>
              </a:rPr>
              <a:t>CEO: </a:t>
            </a:r>
            <a:r>
              <a:rPr sz="1200" b="0">
                <a:solidFill>
                  <a:srgbClr val="1F262E"/>
                </a:solidFill>
                <a:latin typeface="Calibri"/>
              </a:rPr>
              <a:t>MVP = 9 of 29 features, owns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989320"/>
            <a:ext cx="2834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0B2E4F"/>
                </a:solidFill>
                <a:latin typeface="Calibri"/>
              </a:rPr>
              <a:t>CTO: </a:t>
            </a:r>
            <a:r>
              <a:rPr sz="1200" b="0">
                <a:solidFill>
                  <a:srgbClr val="1F262E"/>
                </a:solidFill>
                <a:latin typeface="Calibri"/>
              </a:rPr>
              <a:t>co-signs ADR-001, owns extraction triggers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